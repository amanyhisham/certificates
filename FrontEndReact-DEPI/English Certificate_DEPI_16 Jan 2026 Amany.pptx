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906000" cy="6858000" type="A4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Poppins Medium" panose="020B0604020202020204" charset="0"/>
      <p:regular r:id="rId7"/>
    </p:embeddedFont>
    <p:embeddedFont>
      <p:font typeface="Arimo Bold" panose="020B0604020202020204" charset="0"/>
      <p:regular r:id="rId8"/>
    </p:embeddedFont>
    <p:embeddedFont>
      <p:font typeface="TT Rounds Condensed" panose="020B0604020202020204" charset="0"/>
      <p:regular r:id="rId9"/>
    </p:embeddedFont>
    <p:embeddedFont>
      <p:font typeface="Poppins Light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24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4"/>
          <p:cNvSpPr/>
          <p:nvPr userDrawn="1"/>
        </p:nvSpPr>
        <p:spPr>
          <a:xfrm>
            <a:off x="0" y="-30336"/>
            <a:ext cx="9906000" cy="6888336"/>
          </a:xfrm>
          <a:custGeom>
            <a:avLst/>
            <a:gdLst/>
            <a:ahLst/>
            <a:cxnLst/>
            <a:rect l="l" t="t" r="r" b="b"/>
            <a:pathLst>
              <a:path w="9906000" h="6860904">
                <a:moveTo>
                  <a:pt x="0" y="0"/>
                </a:moveTo>
                <a:lnTo>
                  <a:pt x="9906000" y="0"/>
                </a:lnTo>
                <a:lnTo>
                  <a:pt x="9906000" y="6860904"/>
                </a:lnTo>
                <a:lnTo>
                  <a:pt x="0" y="68609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056" b="-1056"/>
            </a:stretch>
          </a:blipFill>
        </p:spPr>
      </p:sp>
      <p:sp>
        <p:nvSpPr>
          <p:cNvPr id="7" name="Freeform 23"/>
          <p:cNvSpPr/>
          <p:nvPr userDrawn="1"/>
        </p:nvSpPr>
        <p:spPr>
          <a:xfrm>
            <a:off x="6680211" y="5638800"/>
            <a:ext cx="1707028" cy="859611"/>
          </a:xfrm>
          <a:custGeom>
            <a:avLst/>
            <a:gdLst/>
            <a:ahLst/>
            <a:cxnLst/>
            <a:rect l="l" t="t" r="r" b="b"/>
            <a:pathLst>
              <a:path w="1707028" h="859611">
                <a:moveTo>
                  <a:pt x="0" y="0"/>
                </a:moveTo>
                <a:lnTo>
                  <a:pt x="1707028" y="0"/>
                </a:lnTo>
                <a:lnTo>
                  <a:pt x="1707028" y="859611"/>
                </a:lnTo>
                <a:lnTo>
                  <a:pt x="0" y="8596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8" name="TextBox 27"/>
          <p:cNvSpPr txBox="1"/>
          <p:nvPr userDrawn="1"/>
        </p:nvSpPr>
        <p:spPr>
          <a:xfrm>
            <a:off x="3370745" y="487005"/>
            <a:ext cx="3164511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CERTIFICATE OF COMPLETION</a:t>
            </a:r>
          </a:p>
        </p:txBody>
      </p:sp>
      <p:sp>
        <p:nvSpPr>
          <p:cNvPr id="9" name="Freeform 28"/>
          <p:cNvSpPr/>
          <p:nvPr userDrawn="1"/>
        </p:nvSpPr>
        <p:spPr>
          <a:xfrm>
            <a:off x="3457235" y="489101"/>
            <a:ext cx="3181240" cy="2015057"/>
          </a:xfrm>
          <a:custGeom>
            <a:avLst/>
            <a:gdLst/>
            <a:ahLst/>
            <a:cxnLst/>
            <a:rect l="l" t="t" r="r" b="b"/>
            <a:pathLst>
              <a:path w="3181240" h="2015057">
                <a:moveTo>
                  <a:pt x="0" y="0"/>
                </a:moveTo>
                <a:lnTo>
                  <a:pt x="3181240" y="0"/>
                </a:lnTo>
                <a:lnTo>
                  <a:pt x="3181240" y="2015057"/>
                </a:lnTo>
                <a:lnTo>
                  <a:pt x="0" y="20150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44444" b="-7999"/>
            </a:stretch>
          </a:blipFill>
        </p:spPr>
      </p:sp>
      <p:sp>
        <p:nvSpPr>
          <p:cNvPr id="10" name="Freeform 29"/>
          <p:cNvSpPr/>
          <p:nvPr userDrawn="1"/>
        </p:nvSpPr>
        <p:spPr>
          <a:xfrm>
            <a:off x="4024611" y="975888"/>
            <a:ext cx="1455964" cy="1323320"/>
          </a:xfrm>
          <a:custGeom>
            <a:avLst/>
            <a:gdLst/>
            <a:ahLst/>
            <a:cxnLst/>
            <a:rect l="l" t="t" r="r" b="b"/>
            <a:pathLst>
              <a:path w="1455964" h="1323320">
                <a:moveTo>
                  <a:pt x="0" y="0"/>
                </a:moveTo>
                <a:lnTo>
                  <a:pt x="1455964" y="0"/>
                </a:lnTo>
                <a:lnTo>
                  <a:pt x="1455964" y="1323320"/>
                </a:lnTo>
                <a:lnTo>
                  <a:pt x="0" y="132332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215609" b="-64454"/>
            </a:stretch>
          </a:blipFill>
        </p:spPr>
      </p:sp>
      <p:sp>
        <p:nvSpPr>
          <p:cNvPr id="11" name="Freeform 33"/>
          <p:cNvSpPr/>
          <p:nvPr userDrawn="1"/>
        </p:nvSpPr>
        <p:spPr>
          <a:xfrm>
            <a:off x="914000" y="5909420"/>
            <a:ext cx="2004316" cy="415180"/>
          </a:xfrm>
          <a:custGeom>
            <a:avLst/>
            <a:gdLst/>
            <a:ahLst/>
            <a:cxnLst/>
            <a:rect l="l" t="t" r="r" b="b"/>
            <a:pathLst>
              <a:path w="2004316" h="415180">
                <a:moveTo>
                  <a:pt x="0" y="0"/>
                </a:moveTo>
                <a:lnTo>
                  <a:pt x="2004316" y="0"/>
                </a:lnTo>
                <a:lnTo>
                  <a:pt x="2004316" y="415180"/>
                </a:lnTo>
                <a:lnTo>
                  <a:pt x="0" y="4151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2" name="TextBox 34"/>
          <p:cNvSpPr txBox="1"/>
          <p:nvPr userDrawn="1"/>
        </p:nvSpPr>
        <p:spPr>
          <a:xfrm>
            <a:off x="1274056" y="5764064"/>
            <a:ext cx="146051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dirty="0">
                <a:solidFill>
                  <a:srgbClr val="152144"/>
                </a:solidFill>
                <a:latin typeface="Poppins Medium" panose="020B0604020202020204" charset="0"/>
                <a:ea typeface="Poppins Medium"/>
                <a:cs typeface="Poppins Medium" panose="020B0604020202020204" charset="0"/>
                <a:sym typeface="Poppins Medium"/>
              </a:rPr>
              <a:t>Dr. </a:t>
            </a:r>
            <a:r>
              <a:rPr lang="en-US" sz="1200" dirty="0" err="1" smtClean="0">
                <a:solidFill>
                  <a:srgbClr val="152144"/>
                </a:solidFill>
                <a:latin typeface="Poppins Medium" panose="020B0604020202020204" charset="0"/>
                <a:ea typeface="Poppins Medium"/>
                <a:cs typeface="Poppins Medium" panose="020B0604020202020204" charset="0"/>
                <a:sym typeface="Poppins Medium"/>
              </a:rPr>
              <a:t>Hesham</a:t>
            </a:r>
            <a:r>
              <a:rPr lang="en-US" sz="1200" dirty="0" smtClean="0">
                <a:solidFill>
                  <a:srgbClr val="152144"/>
                </a:solidFill>
                <a:latin typeface="Poppins Medium" panose="020B0604020202020204" charset="0"/>
                <a:ea typeface="Poppins Medium"/>
                <a:cs typeface="Poppins Medium" panose="020B0604020202020204" charset="0"/>
                <a:sym typeface="Poppins Medium"/>
              </a:rPr>
              <a:t> </a:t>
            </a:r>
            <a:r>
              <a:rPr lang="en-US" sz="1200" dirty="0">
                <a:solidFill>
                  <a:srgbClr val="152144"/>
                </a:solidFill>
                <a:latin typeface="Poppins Medium" panose="020B0604020202020204" charset="0"/>
                <a:ea typeface="Poppins Medium"/>
                <a:cs typeface="Poppins Medium" panose="020B0604020202020204" charset="0"/>
                <a:sym typeface="Poppins Medium"/>
              </a:rPr>
              <a:t>Farouk</a:t>
            </a:r>
          </a:p>
        </p:txBody>
      </p:sp>
      <p:sp>
        <p:nvSpPr>
          <p:cNvPr id="13" name="TextBox 35"/>
          <p:cNvSpPr txBox="1"/>
          <p:nvPr userDrawn="1"/>
        </p:nvSpPr>
        <p:spPr>
          <a:xfrm>
            <a:off x="471159" y="6302659"/>
            <a:ext cx="277010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11" dirty="0">
                <a:solidFill>
                  <a:schemeClr val="tx2">
                    <a:lumMod val="75000"/>
                  </a:schemeClr>
                </a:solidFill>
                <a:ea typeface="TT Rounds Condensed"/>
                <a:cs typeface="TT Rounds Condensed"/>
                <a:sym typeface="TT Rounds Condensed"/>
              </a:rPr>
              <a:t>Technology Development Consultant, MCIT,</a:t>
            </a:r>
          </a:p>
          <a:p>
            <a:pPr algn="ctr">
              <a:lnSpc>
                <a:spcPts val="1439"/>
              </a:lnSpc>
            </a:pPr>
            <a:r>
              <a:rPr lang="en-US" sz="1200" spc="11" dirty="0">
                <a:solidFill>
                  <a:schemeClr val="tx2">
                    <a:lumMod val="75000"/>
                  </a:schemeClr>
                </a:solidFill>
                <a:ea typeface="TT Rounds Condensed"/>
                <a:cs typeface="TT Rounds Condensed"/>
                <a:sym typeface="TT Rounds Condensed"/>
              </a:rPr>
              <a:t>DEPI General Manger</a:t>
            </a:r>
          </a:p>
        </p:txBody>
      </p:sp>
      <p:sp>
        <p:nvSpPr>
          <p:cNvPr id="14" name="TextBox 36"/>
          <p:cNvSpPr txBox="1"/>
          <p:nvPr userDrawn="1"/>
        </p:nvSpPr>
        <p:spPr>
          <a:xfrm>
            <a:off x="5148665" y="6239426"/>
            <a:ext cx="4770120" cy="3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11" dirty="0">
                <a:solidFill>
                  <a:srgbClr val="152144"/>
                </a:solidFill>
                <a:ea typeface="TT Rounds Condensed"/>
                <a:cs typeface="TT Rounds Condensed"/>
                <a:sym typeface="TT Rounds Condensed"/>
              </a:rPr>
              <a:t>Advisor to Minister of ICT for Technology</a:t>
            </a:r>
          </a:p>
          <a:p>
            <a:pPr algn="ctr">
              <a:lnSpc>
                <a:spcPts val="1439"/>
              </a:lnSpc>
            </a:pPr>
            <a:r>
              <a:rPr lang="en-US" sz="1200" spc="11" dirty="0">
                <a:solidFill>
                  <a:srgbClr val="152144"/>
                </a:solidFill>
                <a:ea typeface="TT Rounds Condensed"/>
                <a:cs typeface="TT Rounds Condensed"/>
                <a:sym typeface="TT Rounds Condensed"/>
              </a:rPr>
              <a:t>Talents Development</a:t>
            </a:r>
          </a:p>
        </p:txBody>
      </p:sp>
      <p:sp>
        <p:nvSpPr>
          <p:cNvPr id="15" name="TextBox 37"/>
          <p:cNvSpPr txBox="1"/>
          <p:nvPr userDrawn="1"/>
        </p:nvSpPr>
        <p:spPr>
          <a:xfrm>
            <a:off x="4127362" y="849243"/>
            <a:ext cx="1651276" cy="17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PROGRAM SPONSORED BY</a:t>
            </a:r>
          </a:p>
        </p:txBody>
      </p:sp>
      <p:sp>
        <p:nvSpPr>
          <p:cNvPr id="16" name="TextBox 38"/>
          <p:cNvSpPr txBox="1"/>
          <p:nvPr userDrawn="1"/>
        </p:nvSpPr>
        <p:spPr>
          <a:xfrm>
            <a:off x="6991042" y="5647540"/>
            <a:ext cx="125533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dirty="0">
                <a:solidFill>
                  <a:srgbClr val="152144"/>
                </a:solidFill>
                <a:latin typeface="Poppins Medium" panose="020B0604020202020204" charset="0"/>
                <a:ea typeface="Poppins Medium"/>
                <a:cs typeface="Poppins Medium" panose="020B0604020202020204" charset="0"/>
                <a:sym typeface="Poppins Medium"/>
              </a:rPr>
              <a:t>Dr. Hoda Baraka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F66E3E-ECAC-F838-4BDB-79A99F2DCB0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0" b="4520"/>
          <a:stretch/>
        </p:blipFill>
        <p:spPr>
          <a:xfrm>
            <a:off x="8104455" y="3050354"/>
            <a:ext cx="1535615" cy="1665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32"/>
          <p:cNvSpPr/>
          <p:nvPr/>
        </p:nvSpPr>
        <p:spPr>
          <a:xfrm flipH="1">
            <a:off x="2429541" y="4432950"/>
            <a:ext cx="5035550" cy="63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24"/>
          <p:cNvSpPr txBox="1"/>
          <p:nvPr/>
        </p:nvSpPr>
        <p:spPr>
          <a:xfrm>
            <a:off x="0" y="2502456"/>
            <a:ext cx="9906000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dirty="0">
                <a:solidFill>
                  <a:srgbClr val="152144"/>
                </a:solidFill>
                <a:ea typeface="Poppins Medium"/>
                <a:cs typeface="Poppins Medium"/>
                <a:sym typeface="Poppins Medium"/>
              </a:rPr>
              <a:t>This certificate is awarded to</a:t>
            </a:r>
          </a:p>
        </p:txBody>
      </p:sp>
      <p:sp>
        <p:nvSpPr>
          <p:cNvPr id="44" name="TextBox 25"/>
          <p:cNvSpPr txBox="1"/>
          <p:nvPr/>
        </p:nvSpPr>
        <p:spPr>
          <a:xfrm>
            <a:off x="9342" y="3429000"/>
            <a:ext cx="989665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who has successfully completed </a:t>
            </a:r>
          </a:p>
          <a:p>
            <a:pPr algn="ctr">
              <a:lnSpc>
                <a:spcPts val="2400"/>
              </a:lnSpc>
            </a:pP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Round 3 </a:t>
            </a: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of the Business English Track </a:t>
            </a:r>
          </a:p>
          <a:p>
            <a:pPr algn="ctr">
              <a:lnSpc>
                <a:spcPts val="2400"/>
              </a:lnSpc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</a:rPr>
              <a:t>Digital Egypt Pioneers Initiative</a:t>
            </a:r>
            <a:endParaRPr lang="en-US" sz="2000" b="1" spc="18" dirty="0">
              <a:solidFill>
                <a:schemeClr val="tx2">
                  <a:lumMod val="75000"/>
                </a:schemeClr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45" name="Freeform 26"/>
          <p:cNvSpPr/>
          <p:nvPr/>
        </p:nvSpPr>
        <p:spPr>
          <a:xfrm>
            <a:off x="3983622" y="5326797"/>
            <a:ext cx="2147206" cy="1459906"/>
          </a:xfrm>
          <a:custGeom>
            <a:avLst/>
            <a:gdLst/>
            <a:ahLst/>
            <a:cxnLst/>
            <a:rect l="l" t="t" r="r" b="b"/>
            <a:pathLst>
              <a:path w="2147206" h="1459906">
                <a:moveTo>
                  <a:pt x="0" y="0"/>
                </a:moveTo>
                <a:lnTo>
                  <a:pt x="2147206" y="0"/>
                </a:lnTo>
                <a:lnTo>
                  <a:pt x="2147206" y="1459906"/>
                </a:lnTo>
                <a:lnTo>
                  <a:pt x="0" y="14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9" name="AutoShape 30"/>
          <p:cNvSpPr/>
          <p:nvPr/>
        </p:nvSpPr>
        <p:spPr>
          <a:xfrm rot="10795664">
            <a:off x="2545936" y="3309794"/>
            <a:ext cx="503555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TextBox 39"/>
          <p:cNvSpPr txBox="1"/>
          <p:nvPr/>
        </p:nvSpPr>
        <p:spPr>
          <a:xfrm>
            <a:off x="1302631" y="4368622"/>
            <a:ext cx="700249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endParaRPr dirty="0"/>
          </a:p>
          <a:p>
            <a:pPr algn="ctr">
              <a:lnSpc>
                <a:spcPts val="2400"/>
              </a:lnSpc>
            </a:pP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Delivered </a:t>
            </a: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by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</a:rPr>
              <a:t>OTO Courses </a:t>
            </a: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from </a:t>
            </a:r>
            <a:r>
              <a:rPr lang="en-US" sz="2000" dirty="0">
                <a:solidFill>
                  <a:srgbClr val="152144"/>
                </a:solidFill>
                <a:latin typeface="Calibri" panose="020F0502020204030204"/>
              </a:rPr>
              <a:t>June to December 2025</a:t>
            </a:r>
            <a:endParaRPr lang="en-US" sz="2000" b="1" dirty="0">
              <a:solidFill>
                <a:srgbClr val="152144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57" name="TextBox 40"/>
          <p:cNvSpPr txBox="1"/>
          <p:nvPr/>
        </p:nvSpPr>
        <p:spPr>
          <a:xfrm>
            <a:off x="0" y="2856548"/>
            <a:ext cx="9906000" cy="276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 dirty="0" err="1" smtClean="0">
                <a:solidFill>
                  <a:srgbClr val="152144"/>
                </a:solidFill>
                <a:latin typeface="Arimo Bold"/>
                <a:ea typeface="Arimo Bold"/>
                <a:cs typeface="Arimo Bold"/>
                <a:sym typeface="Arimo Bold"/>
              </a:rPr>
              <a:t>Amany</a:t>
            </a:r>
            <a:r>
              <a:rPr lang="en-US" sz="1899" b="1" dirty="0" smtClean="0">
                <a:solidFill>
                  <a:srgbClr val="152144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99" b="1" dirty="0" err="1" smtClean="0">
                <a:solidFill>
                  <a:srgbClr val="152144"/>
                </a:solidFill>
                <a:latin typeface="Arimo Bold"/>
                <a:ea typeface="Arimo Bold"/>
                <a:cs typeface="Arimo Bold"/>
                <a:sym typeface="Arimo Bold"/>
              </a:rPr>
              <a:t>Hesham</a:t>
            </a:r>
            <a:r>
              <a:rPr lang="en-US" sz="1899" b="1" dirty="0" smtClean="0">
                <a:solidFill>
                  <a:srgbClr val="152144"/>
                </a:solidFill>
                <a:latin typeface="Arimo Bold"/>
                <a:ea typeface="Arimo Bold"/>
                <a:cs typeface="Arimo Bold"/>
                <a:sym typeface="Arimo Bold"/>
              </a:rPr>
              <a:t> Salah</a:t>
            </a:r>
            <a:endParaRPr lang="en-US" sz="1899" b="1" dirty="0">
              <a:solidFill>
                <a:srgbClr val="15214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32</Words>
  <Application>Microsoft Office PowerPoint</Application>
  <PresentationFormat>A4 Paper (210x297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Arial</vt:lpstr>
      <vt:lpstr>Poppins Medium</vt:lpstr>
      <vt:lpstr>Arimo Bold</vt:lpstr>
      <vt:lpstr>TT Rounds Condensed</vt:lpstr>
      <vt:lpstr>Poppins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DEPI_Attend.pptx</dc:title>
  <dc:creator>Four</dc:creator>
  <cp:lastModifiedBy>Haytham Salah</cp:lastModifiedBy>
  <cp:revision>15</cp:revision>
  <dcterms:created xsi:type="dcterms:W3CDTF">2006-08-16T00:00:00Z</dcterms:created>
  <dcterms:modified xsi:type="dcterms:W3CDTF">2026-04-11T15:20:29Z</dcterms:modified>
  <dc:identifier>DAGYKrOqjY8</dc:identifier>
</cp:coreProperties>
</file>